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naming the scheme and the scale: MPLADS releases roughly 5 crore per MP per year across 543 constituencies. Manual audit cannot cover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six confirmed findings, never the raw alert count. The advisory tier is reported separately and excluded from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where the AI is: this is rule-based and statistical by design. A black-box score cannot be acted on in a corruption inquiry. Every alert is recomputable.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the limitations. Judges forgive an incomplete prototype; they do not forgive a team that overstates what it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Jaipur road is the most legible finding — 54 lakh against a 16.5 lakh ceiling. Quote the ratio, 3.27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OECD citation matters: cover bidding and bid rotation are OECD's own taxonomy. We implement a recognised framework rather than an invented heuristic.</a:t>
            </a:r>
          </a:p>
          <a:p/>
          <a:p>
            <a:r>
              <a:t>FULL URLS (the on-slide labels are hyperlinked to these):</a:t>
            </a:r>
          </a:p>
          <a:p>
            <a:r>
              <a:t>MPLADS Guidelines, April 2023 — MoSPI — https://www.mplads.gov.in/MPLADS/UploadedFiles/MPLADSGuidelinesApril2023.pdf</a:t>
            </a:r>
          </a:p>
          <a:p>
            <a:r>
              <a:t>MPLADS official portal — https://www.mplads.gov.in/</a:t>
            </a:r>
          </a:p>
          <a:p>
            <a:r>
              <a:t>MPLADS–eSAKSHI portal and public dashboard — https://mplads.mospi.gov.in/digigov/dashboard.html</a:t>
            </a:r>
          </a:p>
          <a:p>
            <a:r>
              <a:t>CAG of India — MPLADS performance audits (2001, 2011) — https://cag.gov.in/en/audit-report/details/2341</a:t>
            </a:r>
          </a:p>
          <a:p>
            <a:r>
              <a:t>Factly — MPLADS fund utilisation and unspent balances — https://factly.in/misusing-the-mplad-funds-since-1993-analysis-on-mplads-fund-utilization/</a:t>
            </a:r>
          </a:p>
          <a:p>
            <a:r>
              <a:t>OECD Guidelines for Fighting Bid Rigging in Public Procurement (2025) — https://www.oecd.org/en/publications/oecd-guidelines-for-fighting-bid-rigging-in-public-procurement-2025-update_cbe05a56-en.html</a:t>
            </a:r>
          </a:p>
          <a:p>
            <a:r>
              <a:t>OECD Bid-Rigging Detection List — cover bidding, bid rotation — https://www.oecd.org/en/publications/2025/09/oecd-guidelines-for-fighting-bid-rigging-in-public-procurement-2025-update_127880ea/full-report/component-5.html</a:t>
            </a:r>
          </a:p>
          <a:p>
            <a:r>
              <a:t>CCI — Provisions Relating to Bid Rigging, Advocacy Series 3 — https://cci.gov.in/public/images/publications_booklet/en/provisions-relating-to-bid-rigging1652177081.pdf</a:t>
            </a:r>
          </a:p>
          <a:p>
            <a:r>
              <a:t>Competition Act 2002, Section 3(3)(d) — collusive bidding — https://indiankanoon.org/doc/1885813/</a:t>
            </a:r>
          </a:p>
          <a:p>
            <a:r>
              <a:t>State PWD Schedules of Rates (Assam, West Bengal and others) — https://pwdbnh.assam.gov.in/portlets/sor-schedule-of-rates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plads.gov.in/MPLADS/UploadedFiles/MPLADSGuidelinesApril2023.pdf" TargetMode="External"/><Relationship Id="rId3" Type="http://schemas.openxmlformats.org/officeDocument/2006/relationships/hyperlink" Target="https://www.mplads.gov.in/" TargetMode="External"/><Relationship Id="rId4" Type="http://schemas.openxmlformats.org/officeDocument/2006/relationships/hyperlink" Target="https://mplads.mospi.gov.in/digigov/dashboard.html" TargetMode="External"/><Relationship Id="rId5" Type="http://schemas.openxmlformats.org/officeDocument/2006/relationships/hyperlink" Target="https://cag.gov.in/en/audit-report/details/2341" TargetMode="External"/><Relationship Id="rId6" Type="http://schemas.openxmlformats.org/officeDocument/2006/relationships/hyperlink" Target="https://factly.in/misusing-the-mplad-funds-since-1993-analysis-on-mplads-fund-utilization/" TargetMode="External"/><Relationship Id="rId7" Type="http://schemas.openxmlformats.org/officeDocument/2006/relationships/hyperlink" Target="https://www.oecd.org/en/publications/oecd-guidelines-for-fighting-bid-rigging-in-public-procurement-2025-update_cbe05a56-en.html" TargetMode="External"/><Relationship Id="rId8" Type="http://schemas.openxmlformats.org/officeDocument/2006/relationships/hyperlink" Target="https://www.oecd.org/en/publications/2025/09/oecd-guidelines-for-fighting-bid-rigging-in-public-procurement-2025-update_127880ea/full-report/component-5.html" TargetMode="External"/><Relationship Id="rId9" Type="http://schemas.openxmlformats.org/officeDocument/2006/relationships/hyperlink" Target="https://cci.gov.in/public/images/publications_booklet/en/provisions-relating-to-bid-rigging1652177081.pdf" TargetMode="External"/><Relationship Id="rId10" Type="http://schemas.openxmlformats.org/officeDocument/2006/relationships/hyperlink" Target="https://indiankanoon.org/doc/1885813/" TargetMode="External"/><Relationship Id="rId11" Type="http://schemas.openxmlformats.org/officeDocument/2006/relationships/hyperlink" Target="https://pwdbnh.assam.gov.in/portlets/sor-schedule-of-rates" TargetMode="Externa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FB4E6"/>
                </a:solidFill>
                <a:latin typeface="Calibri"/>
              </a:rPr>
              <a:t>SMART INDIA HACKATHON  ·  IDEA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55648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NirmanDrishti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8FB4E6"/>
                </a:solidFill>
                <a:latin typeface="Nirmala UI"/>
              </a:rPr>
              <a:t>निर्माण दृष्टि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C6D5EA"/>
                </a:solidFill>
                <a:latin typeface="Calibri"/>
              </a:rPr>
              <a:t>Automated integrity auditing for the MPLAD Scheme — every alert backed by arithmetic an officer can recompute.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15968"/>
            <a:ext cx="5577840" cy="1572768"/>
          </a:xfrm>
          <a:prstGeom prst="roundRect">
            <a:avLst>
              <a:gd name="adj" fmla="val 6000"/>
            </a:avLst>
          </a:prstGeom>
          <a:solidFill>
            <a:srgbClr val="16325A"/>
          </a:solidFill>
          <a:ln w="9525">
            <a:solidFill>
              <a:srgbClr val="2A4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449884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8FB4E6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449884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SIH26102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486460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8FB4E6"/>
                </a:solidFill>
                <a:latin typeface="Calibri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486460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AI-powered analysis of MPLADS works to identify unusual or problematic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52303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8FB4E6"/>
                </a:solidFill>
                <a:latin typeface="Calibri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52303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«Theme — fill from portal»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5961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8FB4E6"/>
                </a:solidFill>
                <a:latin typeface="Calibri"/>
              </a:rPr>
              <a:t>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559612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0256" y="4315968"/>
            <a:ext cx="4754880" cy="1572768"/>
          </a:xfrm>
          <a:prstGeom prst="roundRect">
            <a:avLst>
              <a:gd name="adj" fmla="val 6000"/>
            </a:avLst>
          </a:prstGeom>
          <a:solidFill>
            <a:srgbClr val="16325A"/>
          </a:solidFill>
          <a:ln w="9525">
            <a:solidFill>
              <a:srgbClr val="2A4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49884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8FB4E6"/>
                </a:solidFill>
                <a:latin typeface="Calibri"/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9145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«Team name»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7550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6D5EA"/>
                </a:solidFill>
                <a:latin typeface="Calibri"/>
              </a:rPr>
              <a:t>Team ID  «Team ID»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44982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6D5EA"/>
                </a:solidFill>
                <a:latin typeface="Calibri"/>
              </a:rPr>
              <a:t>«Institution»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4476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D93B4"/>
                </a:solidFill>
                <a:latin typeface="Calibri"/>
              </a:rPr>
              <a:t>Ministry of Statistics and Programme Implementation  ·  Government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6607A"/>
                </a:solidFill>
                <a:latin typeface="Calibri"/>
              </a:rPr>
              <a:t>IDEA  ·  WHAT WE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2544"/>
                </a:solidFill>
                <a:latin typeface="Cambria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0151F"/>
                </a:solidFill>
                <a:latin typeface="Calibri"/>
              </a:rPr>
              <a:t>NirmanDrishti loads MPLADS records into a relational database and runs four detection engines, each encoding one documented malpractice pattern. Every alert stores the measurement that produced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12848"/>
            <a:ext cx="5340096" cy="28529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4688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871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544"/>
                </a:solidFill>
                <a:latin typeface="Cambria"/>
              </a:rPr>
              <a:t>How it addresses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62656"/>
            <a:ext cx="47914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Audits every sanctioned work automatically, at the moment it is recorded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Flags four failure modes the CAG has repeatedly documented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Puts findings on a GIS map with a severity-graded triage queue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Separates confirmed findings from advisory notices, so real cases are not buried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12848"/>
            <a:ext cx="5340096" cy="28529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4688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24871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544"/>
                </a:solidFill>
                <a:latin typeface="Cambria"/>
              </a:rPr>
              <a:t>Innovation and uniqueness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62656"/>
            <a:ext cx="47914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Explainable by construction — each finding stores its own proof string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Implements the OECD Bid-Rigging Detection List, not an invented heuristic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Deterministic thresholds in one config file, tunable per district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Findings are recomputable by an officer, so they survive a departmental inquiry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266944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B3261E"/>
                </a:solidFill>
                <a:latin typeface="Cambri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68756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confirmed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5266944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2544"/>
                </a:solidFill>
                <a:latin typeface="Cambria"/>
              </a:rPr>
              <a:t>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568756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constituencies loaded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5266944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B7F4B"/>
                </a:solidFill>
                <a:latin typeface="Cambria"/>
              </a:rPr>
              <a:t>110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568756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full audit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5266944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8A5A00"/>
                </a:solidFill>
                <a:latin typeface="Cambria"/>
              </a:rPr>
              <a:t>₹37.5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568756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largest overcharge found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27648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PS SIH26102  ·  «Theme — fill from portal»  ·  Category: Software  ·  «Team name» («Team ID»)  ·  «Institution»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6607A"/>
                </a:solidFill>
                <a:latin typeface="Calibri"/>
              </a:rPr>
              <a:t>TECHNOLOGIES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2544"/>
                </a:solidFill>
                <a:latin typeface="Cambria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2544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175564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Python 3.12 · FastAPI · Uvicorn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66543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2544"/>
                </a:solidFill>
                <a:latin typeface="Calibri"/>
              </a:rP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066543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SQLite (portable to PostgreSQL + PostGIS)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2544"/>
                </a:solidFill>
                <a:latin typeface="Calibri"/>
              </a:rP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377439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NetworkX bipartite graphs · Haversine · Z-score · Jaccard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88335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2544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688335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Vanilla HTML/CSS/JS · Leaflet + OpenStreetMap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1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2544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999231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MoSPI allocation dataset · PWD Schedule of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426464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73736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D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172821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195681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Official portal dataset → normalised SQL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30428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D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29514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2374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Four engines scan works, tenders and bids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87121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D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86207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309067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Each finding writes its own arithmetic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343814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D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42900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65760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GIS dashboard, severity-graded, case-referenced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1129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The four detection engines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840480"/>
            <a:ext cx="2651760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005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544"/>
                </a:solidFill>
                <a:latin typeface="Calibri"/>
              </a:rPr>
              <a:t>Spatial duplicate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2793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Haversine great-circle distance between same-category 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743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≤ 100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64992" y="3840480"/>
            <a:ext cx="2651760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005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544"/>
                </a:solidFill>
                <a:latin typeface="Calibri"/>
              </a:rPr>
              <a:t>Collusive bidding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2793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Bipartite co-bidding graph, Jaccard overlap per 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743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5A00"/>
                </a:solidFill>
                <a:latin typeface="Calibri"/>
              </a:rPr>
              <a:t>≥ 2 shared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3840480"/>
            <a:ext cx="2651760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4005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544"/>
                </a:solidFill>
                <a:latin typeface="Calibri"/>
              </a:rPr>
              <a:t>Cost above ceiling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42793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PWD Schedule of Rates check plus Z-score outlier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49743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≥ 1.5×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19" y="3840480"/>
            <a:ext cx="2651760" cy="14813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4005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544"/>
                </a:solidFill>
                <a:latin typeface="Calibri"/>
              </a:rPr>
              <a:t>Fund stagnation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42793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Elapsed days since sanction versus reported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49743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5A00"/>
                </a:solidFill>
                <a:latin typeface="Calibri"/>
              </a:rPr>
              <a:t>≥ 180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27648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PS SIH26102  ·  «Theme — fill from portal»  ·  Category: Software  ·  «Team name» («Team ID»)  ·  «Institution»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6607A"/>
                </a:solidFill>
                <a:latin typeface="Calibri"/>
              </a:rPr>
              <a:t>WHAT IS PROVEN  ·  WHAT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2544"/>
                </a:solidFill>
                <a:latin typeface="Cambria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mbria"/>
              </a:rPr>
              <a:t>Feasibility — already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Working prototype runs from a single command, no server to install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All 543 constituencies ingested from the official published dataset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Complete audit of the database executes in about 110 milliseconds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REST API with generated OpenAPI docs, ready to consume portal feeds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0" i="0">
                <a:solidFill>
                  <a:srgbClr val="56607A"/>
                </a:solidFill>
                <a:latin typeface="Calibri"/>
              </a:rPr>
              <a:t>•  Detector thresholds isolated in one configuration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426464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3261E"/>
                </a:solidFill>
                <a:latin typeface="Cambria"/>
              </a:rPr>
              <a:t>Challenges and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755648"/>
            <a:ext cx="5340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Spatial scan is O(n²)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975104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Grid / R-tree spatial indexing; PostGIS at national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2322576"/>
            <a:ext cx="5340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No labelled fraud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54203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Rules encode CAG and OECD red flags; validate in a district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889504"/>
            <a:ext cx="5340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Rates vary by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310896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Per-state Schedule of Rates lookup instead of one national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56432"/>
            <a:ext cx="5340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Co-bidding is not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675888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Reported as a flag for investigation, never as a conviction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0507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Viability in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3425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3B6B"/>
                </a:solidFill>
                <a:latin typeface="Calibri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553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Plugs into MPLADS–eSAKSHI and PFMS through existing JSON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33425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3B6B"/>
                </a:solidFill>
                <a:latin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4553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Open-source stack end to end; no licence, no proprietary GIS, no API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33425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3B6B"/>
                </a:solidFill>
                <a:latin typeface="Calibri"/>
              </a:rPr>
              <a:t>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553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56607A"/>
                </a:solidFill>
                <a:latin typeface="Calibri"/>
              </a:rPr>
              <a:t>Runs alongside current workflow — it advises officers, it does not replace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27648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PS SIH26102  ·  «Theme — fill from portal»  ·  Category: Software  ·  «Team name» («Team ID»)  ·  «Institution»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6607A"/>
                </a:solidFill>
                <a:latin typeface="Calibri"/>
              </a:rPr>
              <a:t>WHO GAINS  ·  AND HOW MUCH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2544"/>
                </a:solidFill>
                <a:latin typeface="Cambria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Potential impact on the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District Magistrates &amp; Nodal Officers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751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See only their own constituency, with printable case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225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MoSPI vigilance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420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National view; findings ranked by severity and value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895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Members of Parliament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08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Early warning that a recommended work has stalled or been mispriced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5643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Citizens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758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6607A"/>
                </a:solidFill>
                <a:latin typeface="Calibri"/>
              </a:rPr>
              <a:t>Public assets actually delivered for the money sanctioned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426464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44"/>
                </a:solidFill>
                <a:latin typeface="Cambria"/>
              </a:rPr>
              <a:t>A case the system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755648"/>
            <a:ext cx="5248656" cy="184708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19202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151F"/>
                </a:solidFill>
                <a:latin typeface="Calibri"/>
              </a:rPr>
              <a:t>CC village road, 1.2 km — Jaipur Rural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0256" y="2286000"/>
            <a:ext cx="3063240" cy="2743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3224" y="229514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3261E"/>
                </a:solidFill>
                <a:latin typeface="Calibri"/>
              </a:rPr>
              <a:t>₹54.00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2066543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Sanctioned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0256" y="2852928"/>
            <a:ext cx="935990" cy="274320"/>
          </a:xfrm>
          <a:prstGeom prst="rect">
            <a:avLst/>
          </a:prstGeom>
          <a:solidFill>
            <a:srgbClr val="1D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5973" y="28620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D3B6B"/>
                </a:solidFill>
                <a:latin typeface="Calibri"/>
              </a:rPr>
              <a:t>₹16.50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633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PWD Schedule of Rates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25526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3.27× the official rate — flagged 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22191"/>
            <a:ext cx="265176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050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7F4B"/>
                </a:solidFill>
                <a:latin typeface="Calibri"/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793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Community assets — water, classrooms, roads — actually built once paid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3822191"/>
            <a:ext cx="265176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0050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A5A00"/>
                </a:solidFill>
                <a:latin typeface="Calibri"/>
              </a:rPr>
              <a:t>Economic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2793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Over ₹4,000 crore of annual outlay brought under continuous surveillance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822191"/>
            <a:ext cx="265176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0050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3B6B"/>
                </a:solidFill>
                <a:latin typeface="Calibri"/>
              </a:rPr>
              <a:t>Administrative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2793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Evidence-backed findings usable directly in departmental inquiry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19" y="3822191"/>
            <a:ext cx="2651760" cy="11704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40050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Scalability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2793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56607A"/>
                </a:solidFill>
                <a:latin typeface="Calibri"/>
              </a:rPr>
              <a:t>543 constituencies already loaded; API-ready for eSAKSHI and PFMS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27648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PS SIH26102  ·  «Theme — fill from portal»  ·  Category: Software  ·  «Team name» («Team ID»)  ·  «Institution»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8FB4E6"/>
                </a:solidFill>
                <a:latin typeface="Calibri"/>
              </a:rPr>
              <a:t>SOURCES CONSULTED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951F"/>
                </a:solidFill>
                <a:latin typeface="Calibri"/>
              </a:rPr>
              <a:t>Scheme, guidelines and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459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MPLADS Guidelines, April 2023 — MoSPI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64592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2"/>
              </a:rPr>
              <a:t>mplads.gov.in › MPLADSGuidelinesApril2023.pdf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88236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MPLADS official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88236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3"/>
              </a:rPr>
              <a:t>mplads.gov.in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3055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MPLADS–eSAKSHI portal and public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4"/>
              </a:rPr>
              <a:t>mplads.mospi.gov.in ›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825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951F"/>
                </a:solidFill>
                <a:latin typeface="Calibri"/>
              </a:rPr>
              <a:t>Evidence that the problem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386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CAG of India — MPLADS performance audits (2001, 2011)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738628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5"/>
              </a:rPr>
              <a:t>cag.gov.in › audit-report 2341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98094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Factly — MPLADS fund utilisation and unspent balances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80944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6"/>
              </a:rPr>
              <a:t>factly.in › MPLADS utilisation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33298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951F"/>
                </a:solidFill>
                <a:latin typeface="Calibri"/>
              </a:rPr>
              <a:t>Detection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5890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OECD Guidelines for Fighting Bid Rigging in Public Procurement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8902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7"/>
              </a:rPr>
              <a:t>oecd.org › bid-rigging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831336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OECD Bid-Rigging Detection List — cover bidding, bid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831336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8"/>
              </a:rPr>
              <a:t>oecd.org › detection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07365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CCI — Provisions Relating to Bid Rigging, Advocacy Series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73652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9"/>
              </a:rPr>
              <a:t>cci.gov.in › advocacy booklet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31596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Competition Act 2002, Section 3(3)(d) — collusive bidding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315968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10"/>
              </a:rPr>
              <a:t>indiankanoon.org › doc 1885813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68012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951F"/>
                </a:solidFill>
                <a:latin typeface="Calibri"/>
              </a:rPr>
              <a:t>Cost 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92404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State PWD Schedules of Rates (Assam, West Bengal and others)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924044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FB4E6"/>
                </a:solidFill>
                <a:latin typeface="Calibri"/>
                <a:hlinkClick r:id="rId11"/>
              </a:rPr>
              <a:t>pwdbnh.assam.gov.in › 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72784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7D93B4"/>
                </a:solidFill>
                <a:latin typeface="Calibri"/>
              </a:rPr>
              <a:t>Great-circle distance (Haversine) and the Jaccard index are standard methods. Basemap © OpenStreetMap contributors.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